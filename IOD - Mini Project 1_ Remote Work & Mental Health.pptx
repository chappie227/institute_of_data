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87c9e82f7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087c9e82f7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87c9e82f7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87c9e82f7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087c9e82f7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087c9e82f7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87c9e82f7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087c9e82f7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0a60abed5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0a60abed5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82523"/>
              </a:buClr>
              <a:buSzPts val="1300"/>
              <a:buChar char="●"/>
            </a:pPr>
            <a:r>
              <a:rPr lang="en" sz="1300" u="sng">
                <a:solidFill>
                  <a:srgbClr val="282523"/>
                </a:solidFill>
                <a:highlight>
                  <a:schemeClr val="lt1"/>
                </a:highlight>
              </a:rPr>
              <a:t>High Stress = Unsatisfied:</a:t>
            </a:r>
            <a:r>
              <a:rPr lang="en" sz="1300">
                <a:solidFill>
                  <a:srgbClr val="282523"/>
                </a:solidFill>
                <a:highlight>
                  <a:schemeClr val="lt1"/>
                </a:highlight>
              </a:rPr>
              <a:t> Across all work arrangements, high-stress individuals tend to be unsatisfied with hybrid and onsite.</a:t>
            </a:r>
            <a:endParaRPr sz="1300">
              <a:solidFill>
                <a:srgbClr val="282523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523"/>
              </a:buClr>
              <a:buSzPts val="1300"/>
              <a:buChar char="●"/>
            </a:pPr>
            <a:r>
              <a:rPr lang="en" sz="1300" u="sng">
                <a:solidFill>
                  <a:srgbClr val="282523"/>
                </a:solidFill>
                <a:highlight>
                  <a:schemeClr val="lt1"/>
                </a:highlight>
              </a:rPr>
              <a:t>Low Stress = Satisfied:</a:t>
            </a:r>
            <a:r>
              <a:rPr lang="en" sz="1300">
                <a:solidFill>
                  <a:srgbClr val="282523"/>
                </a:solidFill>
                <a:highlight>
                  <a:schemeClr val="lt1"/>
                </a:highlight>
              </a:rPr>
              <a:t> Those with low stress levels are generally satisfied, especially in remote work settings.</a:t>
            </a:r>
            <a:endParaRPr sz="1300">
              <a:solidFill>
                <a:srgbClr val="282523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523"/>
              </a:buClr>
              <a:buSzPts val="1300"/>
              <a:buChar char="●"/>
            </a:pPr>
            <a:r>
              <a:rPr lang="en" sz="1300" u="sng">
                <a:solidFill>
                  <a:srgbClr val="282523"/>
                </a:solidFill>
                <a:highlight>
                  <a:schemeClr val="lt1"/>
                </a:highlight>
              </a:rPr>
              <a:t>Medium Stress:</a:t>
            </a:r>
            <a:r>
              <a:rPr lang="en" sz="1300">
                <a:solidFill>
                  <a:srgbClr val="282523"/>
                </a:solidFill>
                <a:highlight>
                  <a:schemeClr val="lt1"/>
                </a:highlight>
              </a:rPr>
              <a:t> Shows a balanced distribution, but with a tendency to skew toward neutral for remote.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0a60abed5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0a60abed5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87c9e82f7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87c9e82f7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 Work &amp; Mental Health In North America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Hannah Chappell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Context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Since COVID remote work has become the norm. It’s important to understand the impact it has on employee’s mental well-being with this change.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While it offers flexibility and reduces commute stress, it also blurs the lines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between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work and personal life. Without a proper work-life balance this can lead to increased feelings of isolation, burnout, anxiety, etc.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Business Question: How does remote work affect mental health?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dataset used is from Kaggle.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 survey was conducted and collected 5,000 responses globally from individuals with different industry backgrounds.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dataset looks into how remote work affects employees mental well-being, stress levels, and mental health conditions.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key variables I used for my research are Industry, Work Location, Work Life Balance Rating, Stress Level, Mental Health Condition, and Satisfaction with Remote Work.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&amp; Wrangling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 terms of cleaning, the dataset has already been cleaned when I first started working with it.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After getting the DataFrame details, there were over 5,000 entries and narrowed down to entries only in North America which became 777 entries.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Double checked for duplicates.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Checked for any Null values. Null values were found in Mental_Health_Condition and Physical_Activity columns. Since I am using the Mental_Health_Condition column for my research, I converted the Null values to None.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Mental Health Conditions &amp; Satisfaction with Remote Work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768500"/>
            <a:ext cx="3345300" cy="26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82523"/>
              </a:buClr>
              <a:buSzPts val="1300"/>
              <a:buFont typeface="Arial"/>
              <a:buChar char="●"/>
            </a:pPr>
            <a:r>
              <a:rPr lang="en" u="sng">
                <a:solidFill>
                  <a:srgbClr val="282523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Anxiety and No Mental Health Condition:</a:t>
            </a:r>
            <a:r>
              <a:rPr lang="en">
                <a:solidFill>
                  <a:srgbClr val="282523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Both groups have a higher count of unsatisfied individuals compared to those with burnout and depression.</a:t>
            </a:r>
            <a:endParaRPr>
              <a:solidFill>
                <a:srgbClr val="282523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82523"/>
              </a:buClr>
              <a:buSzPts val="1300"/>
              <a:buFont typeface="Arial"/>
              <a:buChar char="●"/>
            </a:pPr>
            <a:r>
              <a:rPr lang="en" u="sng">
                <a:solidFill>
                  <a:srgbClr val="282523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Consistent Neutral Levels:</a:t>
            </a:r>
            <a:r>
              <a:rPr lang="en">
                <a:solidFill>
                  <a:srgbClr val="282523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Regardless of mental health conditions, the number of individuals who are neutral seem relatively consistent across all groups.</a:t>
            </a:r>
            <a:endParaRPr>
              <a:solidFill>
                <a:srgbClr val="282523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84400"/>
            <a:ext cx="3468632" cy="303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819150" y="845600"/>
            <a:ext cx="2343900" cy="32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 Work Satisfaction vs. Location and Stress Level</a:t>
            </a:r>
            <a:endParaRPr/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1525" y="223275"/>
            <a:ext cx="4797950" cy="46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 Work Satisfaction by Industry</a:t>
            </a:r>
            <a:endParaRPr/>
          </a:p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819150" y="1800200"/>
            <a:ext cx="3648000" cy="29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-297944" lvl="0" marL="457200" rtl="0" algn="l">
              <a:spcBef>
                <a:spcPts val="900"/>
              </a:spcBef>
              <a:spcAft>
                <a:spcPts val="0"/>
              </a:spcAft>
              <a:buClr>
                <a:srgbClr val="282523"/>
              </a:buClr>
              <a:buSzPct val="100000"/>
              <a:buFont typeface="Arial"/>
              <a:buChar char="●"/>
            </a:pPr>
            <a:r>
              <a:rPr lang="en" sz="3360" u="sng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Consulting:</a:t>
            </a:r>
            <a:r>
              <a:rPr lang="en" sz="3360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 Balanced distribution </a:t>
            </a:r>
            <a:r>
              <a:rPr lang="en" sz="3360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among</a:t>
            </a:r>
            <a:r>
              <a:rPr lang="en" sz="3360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 Neutral, Satisfied, and Unsatisfied levels, with the lowest overall counts compared to other industries.</a:t>
            </a:r>
            <a:endParaRPr sz="3360">
              <a:solidFill>
                <a:srgbClr val="2825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944" lvl="0" marL="457200" rtl="0" algn="l">
              <a:spcBef>
                <a:spcPts val="0"/>
              </a:spcBef>
              <a:spcAft>
                <a:spcPts val="0"/>
              </a:spcAft>
              <a:buClr>
                <a:srgbClr val="282523"/>
              </a:buClr>
              <a:buSzPct val="100000"/>
              <a:buFont typeface="Arial"/>
              <a:buChar char="●"/>
            </a:pPr>
            <a:r>
              <a:rPr lang="en" sz="3360" u="sng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Education: </a:t>
            </a:r>
            <a:r>
              <a:rPr lang="en" sz="3360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Highest counts of remote work satisfaction levels. </a:t>
            </a:r>
            <a:endParaRPr sz="3360">
              <a:solidFill>
                <a:srgbClr val="2825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944" lvl="0" marL="457200" rtl="0" algn="l">
              <a:spcBef>
                <a:spcPts val="0"/>
              </a:spcBef>
              <a:spcAft>
                <a:spcPts val="0"/>
              </a:spcAft>
              <a:buClr>
                <a:srgbClr val="282523"/>
              </a:buClr>
              <a:buSzPct val="100000"/>
              <a:buFont typeface="Arial"/>
              <a:buChar char="●"/>
            </a:pPr>
            <a:r>
              <a:rPr lang="en" sz="3360" u="sng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Finance:</a:t>
            </a:r>
            <a:r>
              <a:rPr lang="en" sz="3360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 High counts across the board, with a significant portion being satisfied and unsatisfied.</a:t>
            </a:r>
            <a:endParaRPr sz="3360">
              <a:solidFill>
                <a:srgbClr val="2825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944" lvl="0" marL="457200" rtl="0" algn="l">
              <a:spcBef>
                <a:spcPts val="0"/>
              </a:spcBef>
              <a:spcAft>
                <a:spcPts val="0"/>
              </a:spcAft>
              <a:buClr>
                <a:srgbClr val="282523"/>
              </a:buClr>
              <a:buSzPct val="100000"/>
              <a:buFont typeface="Arial"/>
              <a:buChar char="●"/>
            </a:pPr>
            <a:r>
              <a:rPr lang="en" sz="3360" u="sng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Healthcare, IT, Manufacturing, and Retail:</a:t>
            </a:r>
            <a:r>
              <a:rPr lang="en" sz="3360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 Similar counts among the four industries,</a:t>
            </a:r>
            <a:r>
              <a:rPr lang="en" sz="3360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patterns of satisfaction levels are more evenly distributed, with notable counts in satisfied and unsatisfied categories</a:t>
            </a:r>
            <a:r>
              <a:rPr lang="en" sz="3360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360">
              <a:solidFill>
                <a:srgbClr val="2825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25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7025" y="1522850"/>
            <a:ext cx="4286025" cy="325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819150" y="1117650"/>
            <a:ext cx="7505700" cy="29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 u="sng">
                <a:solidFill>
                  <a:srgbClr val="282523"/>
                </a:solidFill>
                <a:latin typeface="Arial"/>
                <a:ea typeface="Arial"/>
                <a:cs typeface="Arial"/>
                <a:sym typeface="Arial"/>
              </a:rPr>
              <a:t>The End</a:t>
            </a:r>
            <a:endParaRPr sz="3100">
              <a:solidFill>
                <a:srgbClr val="28252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